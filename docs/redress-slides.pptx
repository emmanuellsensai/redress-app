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85A12-1536-4D69-9452-1D976DD877BD}" v="40" dt="2026-09-15T15:15:37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B1CA6-BD25-497C-AAEE-6CB48C814E7A}" type="datetimeFigureOut"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5F532-4E08-43A0-BA1B-1A59418583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64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Landing page. Say the tagline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across four constituencies. Nobody is happy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Three-pillar solution overview. Set up the flow slide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Emphasize step 3: the reporter is 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persistentHash as the bridge. Say: the private thing and the public thing are provably the same, without the private thing leaking.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esoteric here. Each box maps to a directory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full flow in the linked demo video. Point at each screenshot as you narrate.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this slide. The two columns are the whole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Wave 1 shipped. Wave 2 has real deliverables mapped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Redress isn't a first attempt on Midnight. Reference the prior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CTAs. Read the URL. Land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200400"/>
            <a:ext cx="7315200" cy="7315200"/>
          </a:xfrm>
          <a:prstGeom prst="ellipse">
            <a:avLst/>
          </a:prstGeom>
          <a:solidFill>
            <a:srgbClr val="0000FE">
              <a:alpha val="70000"/>
            </a:srgbClr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2286000"/>
            <a:ext cx="4572000" cy="4572000"/>
          </a:xfrm>
          <a:prstGeom prst="ellipse">
            <a:avLst/>
          </a:prstGeom>
          <a:solidFill>
            <a:srgbClr val="4747FF">
              <a:alpha val="45000"/>
            </a:srgbClr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02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Redress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claims.</a:t>
            </a:r>
            <a:endParaRPr lang="en-US" sz="6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200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4747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Verifiable verdicts.</a:t>
            </a:r>
            <a:endParaRPr lang="en-US" sz="6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0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claims infrastructure on Midnight.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747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Wave 1  ·  Midnight Buildathon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 Labs  ·  @Emmanuellsensai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app has a dispute button.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is broken for everyone.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94360" y="3127248"/>
            <a:ext cx="292608" cy="292608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9260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bank statements to strangers. Trust the platform to redact.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904488"/>
            <a:ext cx="292608" cy="292608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703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Companies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703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sensitive evidence forever. Absorb the compliance liability.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681728"/>
            <a:ext cx="292608" cy="292608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4480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Regulators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4805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audit without a full data dump. Investigate blind or not at all.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5458968"/>
            <a:ext cx="292608" cy="292608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257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Reporters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2578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proof of what they filed if the platform later denies it.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Private, AI-adjudicated, reporter-driven.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 puts the reporter in charge of the flow. The platform receives finalized decisions to act 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3703320" cy="27432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474720"/>
            <a:ext cx="548640" cy="54864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Encrypted at source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sealed to the platform key with a single-use ephemeral keypair. Plaintext never leaves the browser.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108960"/>
            <a:ext cx="3703320" cy="27432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3474720"/>
            <a:ext cx="548640" cy="54864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panel of judges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adjudicate fraud, refunds, chargebacks, KYC exceptions, and appeals. Reasoning stays private.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3108960"/>
            <a:ext cx="3703320" cy="27432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3474720"/>
            <a:ext cx="548640" cy="54864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Auditable by anyone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6634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paste plaintext, re-hash locally, compare on-chain commitments. No exposure, no trust required.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FLOW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steps, all driven by the reporter.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774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02920" y="3474720"/>
            <a:ext cx="10972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Submit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251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encrypts evidence to the platform key. Envelope and hash committed on-chain.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3774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3429000" y="3474720"/>
            <a:ext cx="10972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Adjudicate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4251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page calls the AI engine with the plaintext. Verdict returned in seconds.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3774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6355080" y="3474720"/>
            <a:ext cx="10972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Decide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251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approves the AI, rejects it, or escalates to a human. Their choice is what commits.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3774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9281160" y="3474720"/>
            <a:ext cx="109728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Verify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4251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plaintext later can re-hash locally and match the on-chain commitment.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MIDNIGHT INTEGRATION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Dual-ledger by design.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witnesses on the shielded side. Public commitments on the transparent side. persistentHash bridges them inside a ZK circuit.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5303520" cy="3017520"/>
          </a:xfrm>
          <a:prstGeom prst="roundRect">
            <a:avLst>
              <a:gd name="adj" fmla="val 4545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47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chain, ZK witness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05656"/>
            <a:ext cx="182880" cy="182880"/>
          </a:xfrm>
          <a:prstGeom prst="ellipse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plaintext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654296"/>
            <a:ext cx="182880" cy="182880"/>
          </a:xfrm>
          <a:prstGeom prst="ellipse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reasoning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202936"/>
            <a:ext cx="182880" cy="182880"/>
          </a:xfrm>
          <a:prstGeom prst="ellipse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identity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0" y="4114800"/>
            <a:ext cx="365760" cy="457200"/>
          </a:xfrm>
          <a:prstGeom prst="rightArrow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6587" y="4619898"/>
            <a:ext cx="372293" cy="32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persistentHash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2834640"/>
            <a:ext cx="5303520" cy="3017520"/>
          </a:xfrm>
          <a:prstGeom prst="roundRect">
            <a:avLst>
              <a:gd name="adj" fmla="val 4545"/>
            </a:avLst>
          </a:prstGeom>
          <a:solidFill>
            <a:srgbClr val="F7F7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chain, anyone can read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4078224"/>
            <a:ext cx="164592" cy="164592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verdict hashes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75120" y="4535424"/>
            <a:ext cx="164592" cy="164592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envelopes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75120" y="4992624"/>
            <a:ext cx="164592" cy="164592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public key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75120" y="5449824"/>
            <a:ext cx="164592" cy="164592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+ verdict counters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on Preprod:  3bc1d920…3c68c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moving parts, nothing exotic.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4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517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624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Compact contract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circuits: register_platform, submit_claim, post_verdict. Deployed on Preprod.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4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6517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624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SDK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provider wiring, nacl.box envelope crypto, DApp Connector wallet bridge.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617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590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074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8. Four routes: submit, dashboard, verify, deploy. Plus Jakarta Sans.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4E4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617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590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Verdict engine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5074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serverless. Gemini 2.5 Flash primary, Groq Llama 3.3 70B fallback, JSON-only.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07640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 → SDK → Contract  and  Reporter → Verdict engine → Gemini / Groq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 HIGHLIGHTS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the demo will show.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screens the video walks through end-to-end.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3703320" cy="2651760"/>
          </a:xfrm>
          <a:prstGeom prst="roundRect">
            <a:avLst>
              <a:gd name="adj" fmla="val 5172"/>
            </a:avLst>
          </a:prstGeom>
          <a:solidFill>
            <a:srgbClr val="F7F7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749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 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114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AI verdict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40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Submit + AI verdict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8064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sees the AI decision and picks Approve, Reject, or Escalate.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651760"/>
            <a:ext cx="3703320" cy="2651760"/>
          </a:xfrm>
          <a:prstGeom prst="roundRect">
            <a:avLst>
              <a:gd name="adj" fmla="val 5172"/>
            </a:avLst>
          </a:prstGeom>
          <a:solidFill>
            <a:srgbClr val="F7F7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3749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 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4114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+ receipt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5440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Done + receipt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58064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on-chain hashes visible. Download claim receipt saves the proof to a JSON file.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2651760"/>
            <a:ext cx="3703320" cy="2651760"/>
          </a:xfrm>
          <a:prstGeom prst="roundRect">
            <a:avLst>
              <a:gd name="adj" fmla="val 5172"/>
            </a:avLst>
          </a:prstGeom>
          <a:solidFill>
            <a:srgbClr val="F7F7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83880" y="3749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 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114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verifies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5440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Regulator verifies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58064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wallet. Paste plaintext, click Verify hashes, green matches on both.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0A48CC4-FF0F-7D17-2001-7E2938AC0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3" y="2656889"/>
            <a:ext cx="3701143" cy="264367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3B1AE73-D762-70A0-094D-0389BCCBD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656889"/>
            <a:ext cx="3701144" cy="26436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682BAE-B9E4-0147-E1CE-3EFAA79F4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057" y="2656889"/>
            <a:ext cx="3668487" cy="2643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PRIVACY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the chain sees. What stays with you.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86400" cy="3474720"/>
          </a:xfrm>
          <a:prstGeom prst="roundRect">
            <a:avLst>
              <a:gd name="adj" fmla="val 3947"/>
            </a:avLst>
          </a:prstGeom>
          <a:solidFill>
            <a:srgbClr val="F7F7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06040"/>
            <a:ext cx="502920" cy="50292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ON CHAIN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685032"/>
            <a:ext cx="137160" cy="137160"/>
          </a:xfrm>
          <a:prstGeom prst="rect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+ verdict counters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187952"/>
            <a:ext cx="137160" cy="137160"/>
          </a:xfrm>
          <a:prstGeom prst="rect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public key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690872"/>
            <a:ext cx="137160" cy="137160"/>
          </a:xfrm>
          <a:prstGeom prst="rect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envelopes (512 bytes each)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93792"/>
            <a:ext cx="137160" cy="137160"/>
          </a:xfrm>
          <a:prstGeom prst="rect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verdict hashes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2331720"/>
            <a:ext cx="5486400" cy="3474720"/>
          </a:xfrm>
          <a:prstGeom prst="roundRect">
            <a:avLst>
              <a:gd name="adj" fmla="val 3947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747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OFF CHAIN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3685032"/>
            <a:ext cx="137160" cy="137160"/>
          </a:xfrm>
          <a:prstGeom prst="rect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plaintext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4187952"/>
            <a:ext cx="137160" cy="137160"/>
          </a:xfrm>
          <a:prstGeom prst="rect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reasoning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4690872"/>
            <a:ext cx="137160" cy="137160"/>
          </a:xfrm>
          <a:prstGeom prst="rect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identity (ephemeral)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92240" y="5193792"/>
            <a:ext cx="137160" cy="137160"/>
          </a:xfrm>
          <a:prstGeom prst="rect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Reporter's downloaded receipt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keypair per envelope → sender identity is cryptographically unrecoverable.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Wave 1 shipped. Waves 2 and 3 in view.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7033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4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517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WAVE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37160" cy="13716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Single-party claim reporting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137160" cy="13716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adjudication + reporter accept/reject/escalate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137160" cy="13716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JSON receipt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137160" cy="13716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verification, no wallet needed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2377440"/>
            <a:ext cx="37033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4E4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6517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WAVE 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520440"/>
            <a:ext cx="137160" cy="137160"/>
          </a:xfrm>
          <a:prstGeom prst="ellipse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Two-party disputes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4069080"/>
            <a:ext cx="137160" cy="137160"/>
          </a:xfrm>
          <a:prstGeom prst="ellipse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 evidence beyond text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4617720"/>
            <a:ext cx="137160" cy="137160"/>
          </a:xfrm>
          <a:prstGeom prst="ellipse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verdict panel with majority voting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5166360"/>
            <a:ext cx="137160" cy="137160"/>
          </a:xfrm>
          <a:prstGeom prst="ellipse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platform-side resolution webhooks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83880" y="2377440"/>
            <a:ext cx="37033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4E4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26517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582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WAVE 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3520440"/>
            <a:ext cx="137160" cy="137160"/>
          </a:xfrm>
          <a:prstGeom prst="ellipse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3252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 marketplace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4069080"/>
            <a:ext cx="137160" cy="137160"/>
          </a:xfrm>
          <a:prstGeom prst="ellipse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3252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Staked reputation for reviewers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503920" y="4617720"/>
            <a:ext cx="137160" cy="137160"/>
          </a:xfrm>
          <a:prstGeom prst="ellipse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32520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integration with a Midnight-native app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11480" cy="411480"/>
          </a:xfrm>
          <a:prstGeom prst="ellipse">
            <a:avLst/>
          </a:prstGeom>
          <a:solidFill>
            <a:srgbClr val="0000FE"/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00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Solo build. Not a solo history.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386149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Emmanuel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024051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@Emmanuellsensai</a:t>
            </a:r>
            <a:endParaRPr lang="en-US" sz="16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F7F1A8-7221-C729-F0E3-F974F4075321}"/>
              </a:ext>
            </a:extLst>
          </p:cNvPr>
          <p:cNvGrpSpPr/>
          <p:nvPr/>
        </p:nvGrpSpPr>
        <p:grpSpPr>
          <a:xfrm>
            <a:off x="505097" y="3638006"/>
            <a:ext cx="7132320" cy="1783080"/>
            <a:chOff x="4892040" y="3703320"/>
            <a:chExt cx="7132320" cy="1783080"/>
          </a:xfrm>
        </p:grpSpPr>
        <p:sp>
          <p:nvSpPr>
            <p:cNvPr id="11" name="Shape 9"/>
            <p:cNvSpPr/>
            <p:nvPr/>
          </p:nvSpPr>
          <p:spPr>
            <a:xfrm>
              <a:off x="4892040" y="3849624"/>
              <a:ext cx="164592" cy="164592"/>
            </a:xfrm>
            <a:prstGeom prst="ellipse">
              <a:avLst/>
            </a:prstGeom>
            <a:solidFill>
              <a:srgbClr val="0000FE"/>
            </a:solidFill>
            <a:ln w="12700">
              <a:solidFill>
                <a:srgbClr val="0000FE"/>
              </a:solidFill>
              <a:prstDash val="solid"/>
            </a:ln>
          </p:spPr>
        </p:sp>
        <p:sp>
          <p:nvSpPr>
            <p:cNvPr id="12" name="Text 10"/>
            <p:cNvSpPr txBox="1"/>
            <p:nvPr/>
          </p:nvSpPr>
          <p:spPr>
            <a:xfrm>
              <a:off x="5166360" y="3703320"/>
              <a:ext cx="6858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A0A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Midnight Aliit Fellowship Builder</a:t>
              </a:r>
              <a:endParaRPr lang="en-US" sz="15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92040" y="4306824"/>
              <a:ext cx="164592" cy="164592"/>
            </a:xfrm>
            <a:prstGeom prst="ellipse">
              <a:avLst/>
            </a:prstGeom>
            <a:solidFill>
              <a:srgbClr val="0000FE"/>
            </a:solidFill>
            <a:ln w="12700">
              <a:solidFill>
                <a:srgbClr val="0000FE"/>
              </a:solidFill>
              <a:prstDash val="solid"/>
            </a:ln>
          </p:spPr>
        </p:sp>
        <p:sp>
          <p:nvSpPr>
            <p:cNvPr id="14" name="Text 12"/>
            <p:cNvSpPr txBox="1"/>
            <p:nvPr/>
          </p:nvSpPr>
          <p:spPr>
            <a:xfrm>
              <a:off x="5166360" y="4160520"/>
              <a:ext cx="6858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A0A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Nightforce Charlie · Community leadership</a:t>
              </a:r>
              <a:endParaRPr lang="en-US" sz="15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892040" y="4764024"/>
              <a:ext cx="164592" cy="164592"/>
            </a:xfrm>
            <a:prstGeom prst="ellipse">
              <a:avLst/>
            </a:prstGeom>
            <a:solidFill>
              <a:srgbClr val="0000FE"/>
            </a:solidFill>
            <a:ln w="12700">
              <a:solidFill>
                <a:srgbClr val="0000FE"/>
              </a:solidFill>
              <a:prstDash val="solid"/>
            </a:ln>
          </p:spPr>
        </p:sp>
        <p:sp>
          <p:nvSpPr>
            <p:cNvPr id="16" name="Text 14"/>
            <p:cNvSpPr txBox="1"/>
            <p:nvPr/>
          </p:nvSpPr>
          <p:spPr>
            <a:xfrm>
              <a:off x="5166360" y="4617720"/>
              <a:ext cx="6858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A0A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Eclipse Content Bounty · Tier 2 winner</a:t>
              </a:r>
              <a:endParaRPr lang="en-US" sz="15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892040" y="5221224"/>
              <a:ext cx="164592" cy="164592"/>
            </a:xfrm>
            <a:prstGeom prst="ellipse">
              <a:avLst/>
            </a:prstGeom>
            <a:solidFill>
              <a:srgbClr val="0000FE"/>
            </a:solidFill>
            <a:ln w="12700">
              <a:solidFill>
                <a:srgbClr val="0000FE"/>
              </a:solidFill>
              <a:prstDash val="solid"/>
            </a:ln>
          </p:spPr>
        </p:sp>
        <p:sp>
          <p:nvSpPr>
            <p:cNvPr id="18" name="Text 16"/>
            <p:cNvSpPr txBox="1"/>
            <p:nvPr/>
          </p:nvSpPr>
          <p:spPr>
            <a:xfrm>
              <a:off x="5166360" y="5074920"/>
              <a:ext cx="6858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A0A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Anonymous Whispers dApp · Privacy-preserving whistleblowing on Midnight</a:t>
              </a:r>
              <a:endParaRPr lang="en-US" sz="1500" dirty="0"/>
            </a:p>
          </p:txBody>
        </p:sp>
      </p:grpSp>
      <p:sp>
        <p:nvSpPr>
          <p:cNvPr id="19" name="Text 17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Redress</a:t>
            </a: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redress-app-two.vercel.app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6400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Midnight Buildathon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7315200" cy="7315200"/>
          </a:xfrm>
          <a:prstGeom prst="ellipse">
            <a:avLst/>
          </a:prstGeom>
          <a:solidFill>
            <a:srgbClr val="0000FE">
              <a:alpha val="60000"/>
            </a:srgbClr>
          </a:solidFill>
          <a:ln w="12700">
            <a:solidFill>
              <a:srgbClr val="0000F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47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Try it. Break it. Build with it.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3127248"/>
            <a:ext cx="274320" cy="274320"/>
          </a:xfrm>
          <a:prstGeom prst="ellipse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Feedback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reporter-centric claims model — what would you change?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813048"/>
            <a:ext cx="274320" cy="274320"/>
          </a:xfrm>
          <a:prstGeom prst="ellipse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Wave 2. Two-party disputes need a co-designer.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4498848"/>
            <a:ext cx="274320" cy="274320"/>
          </a:xfrm>
          <a:prstGeom prst="ellipse">
            <a:avLst/>
          </a:prstGeom>
          <a:solidFill>
            <a:srgbClr val="4747FF"/>
          </a:solidFill>
          <a:ln w="12700">
            <a:solidFill>
              <a:srgbClr val="474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 integrations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any Midnight-native app that has a dispute or refund flow.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5532120"/>
            <a:ext cx="1115568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55321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redress-app-two.vercel.app</a:t>
            </a:r>
            <a:r>
              <a:rPr lang="en-US" sz="1400" dirty="0">
                <a:solidFill>
                  <a:srgbClr val="E4E4E7"/>
                </a:solidFill>
              </a:rPr>
              <a:t>     ·     </a:t>
            </a: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github.com/Emmanuellsensai/redress-app</a:t>
            </a:r>
            <a:r>
              <a:rPr lang="en-US" sz="1400" dirty="0">
                <a:solidFill>
                  <a:srgbClr val="E4E4E7"/>
                </a:solidFill>
              </a:rPr>
              <a:t>     ·     </a:t>
            </a:r>
            <a:r>
              <a:rPr lang="en-US" sz="1400" b="1" dirty="0">
                <a:solidFill>
                  <a:srgbClr val="000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@Emmanuellsensai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Redress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Redress</dc:title>
  <dc:subject>Private Claims Infrastructure on Midnight</dc:subject>
  <dc:creator>Redress Labs</dc:creator>
  <cp:lastModifiedBy>Redress Labs</cp:lastModifiedBy>
  <cp:revision>31</cp:revision>
  <dcterms:created xsi:type="dcterms:W3CDTF">2026-09-12T12:04:21Z</dcterms:created>
  <dcterms:modified xsi:type="dcterms:W3CDTF">2026-09-15T15:16:52Z</dcterms:modified>
</cp:coreProperties>
</file>